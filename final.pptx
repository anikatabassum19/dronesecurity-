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/>
            <a:r>
              <a:t>Drone Security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What is Drone Security?</a:t>
            </a:r>
          </a:p>
          <a:p>
            <a:pPr/>
            <a:r>
              <a:t>Why drones are vulnerable</a:t>
            </a:r>
          </a:p>
          <a:p>
            <a:pPr/>
            <a:r>
              <a:t>Communication between Ground Control Station (GCS) and Drone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/>
            <a:r>
              <a:t>Drone Communication 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Ground Control Station (GCS)</a:t>
            </a:r>
          </a:p>
          <a:p>
            <a:pPr/>
            <a:r>
              <a:t>Wireless link (Wi‑Fi / RF / LTE)</a:t>
            </a:r>
          </a:p>
          <a:p>
            <a:pPr/>
            <a:r>
              <a:t>Flight Controller</a:t>
            </a:r>
          </a:p>
          <a:p>
            <a:pPr/>
            <a:r>
              <a:t>Telemetry &amp; Command channels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/>
            <a:r>
              <a:t>Why Drone Links Are Vulnerable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Unencrypted communication</a:t>
            </a:r>
          </a:p>
          <a:p>
            <a:pPr/>
            <a:r>
              <a:t>Weak authentication</a:t>
            </a:r>
          </a:p>
          <a:p>
            <a:pPr/>
            <a:r>
              <a:t>Default credentials</a:t>
            </a:r>
          </a:p>
          <a:p>
            <a:pPr/>
            <a:r>
              <a:t>Open wireless medium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/>
            <a:r>
              <a:t>Packet Sniffing – Concept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Capturing data packets over wireless communication</a:t>
            </a:r>
          </a:p>
          <a:p>
            <a:pPr/>
            <a:r>
              <a:t>Passive attack (no modification)</a:t>
            </a:r>
          </a:p>
          <a:p>
            <a:pPr/>
            <a:r>
              <a:t>Used for analysis and reconnaissance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/>
            <a:r>
              <a:t>Packet Sniffing – Possible Methods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Wi‑Fi monitoring mode</a:t>
            </a:r>
          </a:p>
          <a:p>
            <a:pPr/>
            <a:r>
              <a:t>SDR (Software Defined Radio)</a:t>
            </a:r>
          </a:p>
          <a:p>
            <a:pPr/>
            <a:r>
              <a:t>Telemetry radio monitoring</a:t>
            </a:r>
          </a:p>
          <a:p>
            <a:pPr/>
            <a:r>
              <a:t>Protocol analysis (e.g., MAVLink)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/>
            <a:r>
              <a:t>Man-in-the-Middle (MITM) Attack – Concept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Attacker places themselves between GCS and drone</a:t>
            </a:r>
          </a:p>
          <a:p>
            <a:pPr/>
            <a:r>
              <a:t>Intercepts, modifies, or injects commands</a:t>
            </a:r>
          </a:p>
          <a:p>
            <a:pPr/>
            <a:r>
              <a:t>Active attack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/>
            <a:r>
              <a:t>MITM Attack Techniques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Rogue access point</a:t>
            </a:r>
          </a:p>
          <a:p>
            <a:pPr/>
            <a:r>
              <a:t>ARP spoofing (Wi‑Fi based drones)</a:t>
            </a:r>
          </a:p>
          <a:p>
            <a:pPr/>
            <a:r>
              <a:t>Relay-based RF interception</a:t>
            </a:r>
          </a:p>
          <a:p>
            <a:pPr/>
            <a:r>
              <a:t>Signal hijacking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/>
            <a:r>
              <a:t>Drone Takeover Scenarios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Command injection</a:t>
            </a:r>
          </a:p>
          <a:p>
            <a:pPr/>
            <a:r>
              <a:t>GPS spoofing</a:t>
            </a:r>
          </a:p>
          <a:p>
            <a:pPr/>
            <a:r>
              <a:t>Telemetry manipulation</a:t>
            </a:r>
          </a:p>
          <a:p>
            <a:pPr/>
            <a:r>
              <a:t>Emergency failsafe exploitation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/>
            <a:r>
              <a:t>Impact of Drone Hijacking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Loss of control</a:t>
            </a:r>
          </a:p>
          <a:p>
            <a:pPr/>
            <a:r>
              <a:t>Surveillance breach</a:t>
            </a:r>
          </a:p>
          <a:p>
            <a:pPr/>
            <a:r>
              <a:t>Payload theft</a:t>
            </a:r>
          </a:p>
          <a:p>
            <a:pPr/>
            <a:r>
              <a:t>Safety risks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/>
            <a:r>
              <a:t>Real‑World Attack Categories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Communication attacks</a:t>
            </a:r>
          </a:p>
          <a:p>
            <a:pPr/>
            <a:r>
              <a:t>Navigation attacks</a:t>
            </a:r>
          </a:p>
          <a:p>
            <a:pPr/>
            <a:r>
              <a:t>Control logic attacks</a:t>
            </a:r>
          </a:p>
          <a:p>
            <a:pPr/>
            <a:r>
              <a:t>Physical access attacks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/>
            <a:r>
              <a:t>Security Countermeasures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Encrypted communication</a:t>
            </a:r>
          </a:p>
          <a:p>
            <a:pPr/>
            <a:r>
              <a:t>Mutual authentication</a:t>
            </a:r>
          </a:p>
          <a:p>
            <a:pPr/>
            <a:r>
              <a:t>Frequency hopping</a:t>
            </a:r>
          </a:p>
          <a:p>
            <a:pPr/>
            <a:r>
              <a:t>Intrusion detection systems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/>
            <a:r>
              <a:t>Ethical &amp; Legal Considerations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Research-only environments</a:t>
            </a:r>
          </a:p>
          <a:p>
            <a:pPr/>
            <a:r>
              <a:t>Permission-based testing</a:t>
            </a:r>
          </a:p>
          <a:p>
            <a:pPr/>
            <a:r>
              <a:t>Legal regulations</a:t>
            </a:r>
          </a:p>
          <a:p>
            <a:pPr/>
            <a:r>
              <a:t>Responsible disclosure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/>
            <a:r>
              <a:t>Literature Review 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Stöcker et al. (2017)</a:t>
            </a:r>
          </a:p>
          <a:p>
            <a:pPr/>
            <a:r>
              <a:t>Title: Drone Security and Privacy Issues</a:t>
            </a:r>
          </a:p>
          <a:p>
            <a:pPr/>
            <a:r>
              <a:t>Findings: Highlights vulnerabilities in UAV communication, GPS spoofing, and lack of encryption as major risks.</a:t>
            </a:r>
          </a:p>
          <a:p>
            <a:pPr/>
            <a:r>
              <a:t>Relevance: Supports the need for secure communication channels.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/>
            <a:r>
              <a:t>Literature Review 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Rodday et al. (2016)</a:t>
            </a:r>
          </a:p>
          <a:p>
            <a:pPr/>
            <a:r>
              <a:t>Title: Security Vulnerabilities of UAVs</a:t>
            </a:r>
          </a:p>
          <a:p>
            <a:pPr/>
            <a:r>
              <a:t>Findings: Demonstrates practical attacks such as packet sniffing and command injection on MAVLink.</a:t>
            </a:r>
          </a:p>
          <a:p>
            <a:pPr/>
            <a:r>
              <a:t>Relevance: Validates feasibility of MITM attacks.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/>
            <a:r>
              <a:t>Literature Review 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Hartmann &amp; Steup (2013)</a:t>
            </a:r>
          </a:p>
          <a:p>
            <a:pPr/>
            <a:r>
              <a:t>Title: The Vulnerability of UAVs to Cyber Attacks</a:t>
            </a:r>
          </a:p>
          <a:p>
            <a:pPr/>
            <a:r>
              <a:t>Findings: Shows how unencrypted telemetry links allow drone takeover.</a:t>
            </a:r>
          </a:p>
          <a:p>
            <a:pPr/>
            <a:r>
              <a:t>Relevance: Directly aligns with drone hijacking scenarios.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/>
            <a:r>
              <a:t>Literature Review 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Shoufan et al. (2018)</a:t>
            </a:r>
          </a:p>
          <a:p>
            <a:pPr/>
            <a:r>
              <a:t>Title: UAV Intrusion Detection Systems</a:t>
            </a:r>
          </a:p>
          <a:p>
            <a:pPr/>
            <a:r>
              <a:t>Findings: Proposes IDS-based protection for UAV networks.</a:t>
            </a:r>
          </a:p>
          <a:p>
            <a:pPr/>
            <a:r>
              <a:t>Relevance: Supports countermeasure strategies.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0" y="457200"/>
            <a:ext cx="73152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/>
            </a:pPr>
            <a:r>
              <a:t>Gap Analysis in Drone Security Research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371600"/>
          <a:ext cx="8229600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  <a:gridCol w="2743200"/>
              </a:tblGrid>
              <a:tr h="685800">
                <a:tc>
                  <a:txBody>
                    <a:bodyPr/>
                    <a:lstStyle/>
                    <a:p>
                      <a:r>
                        <a:t>Aspect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Existing Research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Identified Gap</a:t>
                      </a:r>
                    </a:p>
                  </a:txBody>
                  <a:tcPr/>
                </a:tc>
              </a:tr>
              <a:tr h="685800">
                <a:tc>
                  <a:txBody>
                    <a:bodyPr/>
                    <a:lstStyle/>
                    <a:p>
                      <a:r>
                        <a:t>Attack Focus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Packet sniffing, MITM, GPS spoofing demonstrated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Limited focus on ARP spoofing in drone Wi‑Fi networks</a:t>
                      </a:r>
                    </a:p>
                  </a:txBody>
                  <a:tcPr/>
                </a:tc>
              </a:tr>
              <a:tr h="685800">
                <a:tc>
                  <a:txBody>
                    <a:bodyPr/>
                    <a:lstStyle/>
                    <a:p>
                      <a:r>
                        <a:t>Detection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Mostly offline or post‑attack analysis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Lack of real‑time attack detection mechanisms</a:t>
                      </a:r>
                    </a:p>
                  </a:txBody>
                  <a:tcPr/>
                </a:tc>
              </a:tr>
              <a:tr h="685800">
                <a:tc>
                  <a:txBody>
                    <a:bodyPr/>
                    <a:lstStyle/>
                    <a:p>
                      <a:r>
                        <a:t>Security Design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Heavy cryptographic solutions proposed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Not suitable for low‑cost or resource‑limited drones</a:t>
                      </a:r>
                    </a:p>
                  </a:txBody>
                  <a:tcPr/>
                </a:tc>
              </a:tr>
              <a:tr h="685800">
                <a:tc>
                  <a:txBody>
                    <a:bodyPr/>
                    <a:lstStyle/>
                    <a:p>
                      <a:r>
                        <a:t>System Integration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Security treated separately from flight control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Poor integration with flight controller and failsafe logic</a:t>
                      </a:r>
                    </a:p>
                  </a:txBody>
                  <a:tcPr/>
                </a:tc>
              </a:tr>
              <a:tr h="685800">
                <a:tc>
                  <a:txBody>
                    <a:bodyPr/>
                    <a:lstStyle/>
                    <a:p>
                      <a:r>
                        <a:t>Testing Environment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Simulation or lab‑based testing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Limited real‑world deployment and validation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